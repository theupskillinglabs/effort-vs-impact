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itizens.is/impact/better_reykjavik/" TargetMode="External"/><Relationship Id="rId2" Type="http://schemas.openxmlformats.org/officeDocument/2006/relationships/hyperlink" Target="https://www.coe.int/en/web/interculturalcities/-/better-reykjavik" TargetMode="External"/><Relationship Id="rId3" Type="http://schemas.openxmlformats.org/officeDocument/2006/relationships/hyperlink" Target="https://congress.crowd.law/case-vtaiwan.html" TargetMode="External"/><Relationship Id="rId4" Type="http://schemas.openxmlformats.org/officeDocument/2006/relationships/hyperlink" Target="https://medium.com/cidades-democr%C3%A1ticas/how-pol-is-is-being-adopted-by-cidade-democr%C3%A1tica-in-brazil-1fd744b2aece" TargetMode="External"/><Relationship Id="rId5" Type="http://schemas.openxmlformats.org/officeDocument/2006/relationships/hyperlink" Target="https://www.birmingham.gov.uk/download/downloads/id/19211/bcc_compliments_comments_and_complaints_policy.docx" TargetMode="External"/><Relationship Id="rId6" Type="http://schemas.openxmlformats.org/officeDocument/2006/relationships/hyperlink" Target="https://democracy.newport.gov.uk/documents/s439/06%20X%20Append%20City%20Council%20Comments%20Compliments%20and%20Complaints%20Policy%20V1%201%20Fi.pdf" TargetMode="External"/><Relationship Id="rId7" Type="http://schemas.openxmlformats.org/officeDocument/2006/relationships/hyperlink" Target="https://www.participatorybudgeting.org/wp-content/uploads/2023/05/PB_Manual_Participatory_Budgeting_Project_v3.0F.pdf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7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Board, Closed Loop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4183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Research focus: 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elsewhere have closed the loop between public input and a public answer.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smallest version of that one local board could run?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8229600" cy="822960"/>
          </a:xfrm>
          <a:prstGeom prst="rect">
            <a:avLst/>
          </a:prstGeom>
          <a:solidFill>
            <a:srgbClr val="14273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45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9751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Reykjavik's council addresses monthly, via Better Reykjavik (Iceland)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29000" y="1645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days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29000" y="19751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Birmingham City Council's promised written-response window for public comments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72200" y="1645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172200" y="19751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idea to a public yes/no on Better Reykjavik — outcome always announced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 TO BORROW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542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26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VERSION FOR ONE 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82296" cy="82296"/>
          </a:xfrm>
          <a:prstGeom prst="rect">
            <a:avLst/>
          </a:prstGeom>
          <a:solidFill>
            <a:srgbClr val="C2660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89504"/>
            <a:ext cx="3703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Transparent issue framing.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vTaiwan, Taiwan's online consultation platform, names the issue up front; one agency replies first.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47288"/>
            <a:ext cx="82296" cy="82296"/>
          </a:xfrm>
          <a:prstGeom prst="rect">
            <a:avLst/>
          </a:prstGeom>
          <a:solidFill>
            <a:srgbClr val="C2660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83280"/>
            <a:ext cx="3703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Visible aggregation, not just testimony.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Pol.is, a clustering tool, does this openly — Cidade Democrática runs it in Brazil.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41064"/>
            <a:ext cx="82296" cy="82296"/>
          </a:xfrm>
          <a:prstGeom prst="rect">
            <a:avLst/>
          </a:prstGeom>
          <a:solidFill>
            <a:srgbClr val="C2660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77056"/>
            <a:ext cx="3703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response on a stated clock.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vTaiwan and the UK's "You Said, We Did" model close the loop with a public yes, no, or not yet.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53512"/>
            <a:ext cx="82296" cy="82296"/>
          </a:xfrm>
          <a:prstGeom prst="rect">
            <a:avLst/>
          </a:prstGeom>
          <a:solidFill>
            <a:srgbClr val="C266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889504"/>
            <a:ext cx="3703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Adopt-an-item.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agenda item per meeting and name who owns the reply before comment opens.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447288"/>
            <a:ext cx="82296" cy="82296"/>
          </a:xfrm>
          <a:prstGeom prst="rect">
            <a:avLst/>
          </a:prstGeom>
          <a:solidFill>
            <a:srgbClr val="C2660B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383280"/>
            <a:ext cx="3703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48-hour tally, not a transcript.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one-page "what we heard" summary within two days — a low-tech Pol.is.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941064"/>
            <a:ext cx="82296" cy="82296"/>
          </a:xfrm>
          <a:prstGeom prst="rect">
            <a:avLst/>
          </a:prstGeom>
          <a:solidFill>
            <a:srgbClr val="C2660B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877056"/>
            <a:ext cx="3703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dated promise, personally delivered.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within 10-20 days (Newport, Birmingham) and notify every commenter.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994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Sources: </a:t>
            </a:r>
            <a:pPr indent="0" marL="0">
              <a:buNone/>
            </a:pPr>
            <a:r>
              <a:rPr lang="en-US" sz="750" u="sng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Citizens Foundation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· </a:t>
            </a:r>
            <a:pPr indent="0" marL="0">
              <a:buNone/>
            </a:pPr>
            <a:r>
              <a:rPr lang="en-US" sz="750" u="sng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Council of Europe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· </a:t>
            </a:r>
            <a:pPr indent="0" marL="0">
              <a:buNone/>
            </a:pPr>
            <a:r>
              <a:rPr lang="en-US" sz="750" u="sng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Crowdlaw for Congress (vTaiwan)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· </a:t>
            </a:r>
            <a:pPr indent="0" marL="0">
              <a:buNone/>
            </a:pPr>
            <a:r>
              <a:rPr lang="en-US" sz="750" u="sng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Cidade Democrática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· </a:t>
            </a:r>
            <a:pPr indent="0" marL="0">
              <a:buNone/>
            </a:pPr>
            <a:r>
              <a:rPr lang="en-US" sz="750" u="sng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Birmingham City Council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· </a:t>
            </a:r>
            <a:pPr indent="0" marL="0">
              <a:buNone/>
            </a:pPr>
            <a:r>
              <a:rPr lang="en-US" sz="750" u="sng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Newport City Council</a:t>
            </a:r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· </a:t>
            </a:r>
            <a:pPr indent="0" marL="0">
              <a:buNone/>
            </a:pPr>
            <a:r>
              <a:rPr lang="en-US" sz="750" u="sng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Participatory Budgeting Project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2026-08-11T20:34:26Z</dcterms:created>
  <dcterms:modified xsi:type="dcterms:W3CDTF">2026-08-11T20:34:26Z</dcterms:modified>
</cp:coreProperties>
</file>