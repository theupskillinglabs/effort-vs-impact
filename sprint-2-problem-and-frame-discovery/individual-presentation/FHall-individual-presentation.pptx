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13" d="100"/>
          <a:sy n="213" d="100"/>
        </p:scale>
        <p:origin x="29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2252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Effort versus impact: people opt out when the cost of figuring out what to do is higher than the visible payoff. Local elections are the clearest case.
Look at the drop-off. Maryland turned out 69% for the 2024 presidential and 46% for the 2022 midterm, but local elections here rarely crack 20%. Same voters, same state — the difference is what it costs them to participate.
Where does that cost come from? The information often isn't there: many down-ballot candidates have no website and no party label to shortcut a judgment. The roles are unclear — people can't say what a circuit court judge does. There's no common source; every municipality publishes differently. And voting isn't a habit for most people: Pew found only 41% of adults voted in all three recent national elections. Nonprofit VOTE's interviews suggest the deeper barrier is emotional — shame, isolation, powerlessness — not just logistics.
But it can be overcome. Board of Education races are the proof: attention rose once people could see how those seats affect their own schools. Frederick's advocacy groups survey every candidate and publish the answers, creating one comparable record. And Rockville nearly doubled turnout by removing a step rather than raising the stakes.
That's the thread: lower the cost of knowing, and make the impact visible.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8138160" cy="566928"/>
          </a:xfrm>
          <a:prstGeom prst="rect">
            <a:avLst/>
          </a:prstGeom>
          <a:noFill/>
          <a:ln/>
        </p:spPr>
        <p:txBody>
          <a:bodyPr wrap="square" lIns="0" tIns="0" rIns="0" bIns="0" rtlCol="0" anchor="ctr"/>
          <a:lstStyle/>
          <a:p>
            <a:pPr marL="0" indent="0">
              <a:buNone/>
            </a:pPr>
            <a:r>
              <a:rPr lang="en-US" sz="3600" b="1" dirty="0">
                <a:solidFill>
                  <a:srgbClr val="16283C"/>
                </a:solidFill>
                <a:latin typeface="Cambria" pitchFamily="34" charset="0"/>
                <a:ea typeface="Cambria" pitchFamily="34" charset="-122"/>
                <a:cs typeface="Cambria" pitchFamily="34" charset="-120"/>
              </a:rPr>
              <a:t>Effort v. Impact</a:t>
            </a:r>
            <a:endParaRPr lang="en-US" sz="3600" dirty="0"/>
          </a:p>
        </p:txBody>
      </p:sp>
      <p:sp>
        <p:nvSpPr>
          <p:cNvPr id="3" name="Text 1"/>
          <p:cNvSpPr/>
          <p:nvPr/>
        </p:nvSpPr>
        <p:spPr>
          <a:xfrm>
            <a:off x="502920" y="960120"/>
            <a:ext cx="8138160" cy="274320"/>
          </a:xfrm>
          <a:prstGeom prst="rect">
            <a:avLst/>
          </a:prstGeom>
          <a:noFill/>
          <a:ln/>
        </p:spPr>
        <p:txBody>
          <a:bodyPr wrap="square" lIns="0" tIns="0" rIns="0" bIns="0" rtlCol="0" anchor="ctr"/>
          <a:lstStyle/>
          <a:p>
            <a:pPr marL="0" indent="0">
              <a:buNone/>
            </a:pPr>
            <a:r>
              <a:rPr lang="en-US" sz="1400" b="1" dirty="0">
                <a:solidFill>
                  <a:srgbClr val="7A879A"/>
                </a:solidFill>
                <a:latin typeface="Calibri" pitchFamily="34" charset="0"/>
                <a:ea typeface="Calibri" pitchFamily="34" charset="-122"/>
                <a:cs typeface="Calibri" pitchFamily="34" charset="-120"/>
              </a:rPr>
              <a:t>Research focus:  </a:t>
            </a:r>
            <a:r>
              <a:rPr lang="en-US" sz="1400" b="1" dirty="0">
                <a:solidFill>
                  <a:srgbClr val="16283C"/>
                </a:solidFill>
                <a:latin typeface="Calibri" pitchFamily="34" charset="0"/>
                <a:ea typeface="Calibri" pitchFamily="34" charset="-122"/>
                <a:cs typeface="Calibri" pitchFamily="34" charset="-120"/>
              </a:rPr>
              <a:t>Why is voter turnout lower in local elections?</a:t>
            </a:r>
            <a:endParaRPr lang="en-US" sz="1400" dirty="0"/>
          </a:p>
        </p:txBody>
      </p:sp>
      <p:sp>
        <p:nvSpPr>
          <p:cNvPr id="4" name="Shape 2"/>
          <p:cNvSpPr/>
          <p:nvPr/>
        </p:nvSpPr>
        <p:spPr>
          <a:xfrm>
            <a:off x="502920" y="1417320"/>
            <a:ext cx="8138160" cy="822960"/>
          </a:xfrm>
          <a:prstGeom prst="roundRect">
            <a:avLst>
              <a:gd name="adj" fmla="val 6667"/>
            </a:avLst>
          </a:prstGeom>
          <a:solidFill>
            <a:srgbClr val="16283C"/>
          </a:solidFill>
          <a:ln w="12700">
            <a:solidFill>
              <a:srgbClr val="16283C"/>
            </a:solidFill>
            <a:prstDash val="solid"/>
          </a:ln>
        </p:spPr>
      </p:sp>
      <p:sp>
        <p:nvSpPr>
          <p:cNvPr id="5" name="Text 3"/>
          <p:cNvSpPr/>
          <p:nvPr/>
        </p:nvSpPr>
        <p:spPr>
          <a:xfrm>
            <a:off x="713232" y="1572768"/>
            <a:ext cx="868680" cy="411480"/>
          </a:xfrm>
          <a:prstGeom prst="rect">
            <a:avLst/>
          </a:prstGeom>
          <a:noFill/>
          <a:ln/>
        </p:spPr>
        <p:txBody>
          <a:bodyPr wrap="square" lIns="0" tIns="0" rIns="0" bIns="0"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69%</a:t>
            </a:r>
            <a:endParaRPr lang="en-US" sz="2300" dirty="0"/>
          </a:p>
        </p:txBody>
      </p:sp>
      <p:sp>
        <p:nvSpPr>
          <p:cNvPr id="6" name="Text 4"/>
          <p:cNvSpPr/>
          <p:nvPr/>
        </p:nvSpPr>
        <p:spPr>
          <a:xfrm>
            <a:off x="1609344" y="1554480"/>
            <a:ext cx="1481328" cy="457200"/>
          </a:xfrm>
          <a:prstGeom prst="rect">
            <a:avLst/>
          </a:prstGeom>
          <a:noFill/>
          <a:ln/>
        </p:spPr>
        <p:txBody>
          <a:bodyPr wrap="square" lIns="0" tIns="0" rIns="0" bIns="0" rtlCol="0" anchor="ctr"/>
          <a:lstStyle/>
          <a:p>
            <a:pPr marL="0" indent="0">
              <a:lnSpc>
                <a:spcPts val="1100"/>
              </a:lnSpc>
              <a:buNone/>
            </a:pPr>
            <a:r>
              <a:rPr lang="en-US" sz="900" dirty="0">
                <a:solidFill>
                  <a:srgbClr val="C9D3E0"/>
                </a:solidFill>
                <a:latin typeface="Calibri" pitchFamily="34" charset="0"/>
                <a:ea typeface="Calibri" pitchFamily="34" charset="-122"/>
                <a:cs typeface="Calibri" pitchFamily="34" charset="-120"/>
              </a:rPr>
              <a:t>Maryland turnout, 2024 presidential</a:t>
            </a:r>
            <a:endParaRPr lang="en-US" sz="900" dirty="0"/>
          </a:p>
        </p:txBody>
      </p:sp>
      <p:sp>
        <p:nvSpPr>
          <p:cNvPr id="7" name="Text 5"/>
          <p:cNvSpPr/>
          <p:nvPr/>
        </p:nvSpPr>
        <p:spPr>
          <a:xfrm>
            <a:off x="3383280" y="1572768"/>
            <a:ext cx="868680" cy="411480"/>
          </a:xfrm>
          <a:prstGeom prst="rect">
            <a:avLst/>
          </a:prstGeom>
          <a:noFill/>
          <a:ln/>
        </p:spPr>
        <p:txBody>
          <a:bodyPr wrap="square" lIns="0" tIns="0" rIns="0" bIns="0"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46%</a:t>
            </a:r>
            <a:endParaRPr lang="en-US" sz="2300" dirty="0"/>
          </a:p>
        </p:txBody>
      </p:sp>
      <p:sp>
        <p:nvSpPr>
          <p:cNvPr id="8" name="Text 6"/>
          <p:cNvSpPr/>
          <p:nvPr/>
        </p:nvSpPr>
        <p:spPr>
          <a:xfrm>
            <a:off x="4279392" y="1554480"/>
            <a:ext cx="1481328" cy="457200"/>
          </a:xfrm>
          <a:prstGeom prst="rect">
            <a:avLst/>
          </a:prstGeom>
          <a:noFill/>
          <a:ln/>
        </p:spPr>
        <p:txBody>
          <a:bodyPr wrap="square" lIns="0" tIns="0" rIns="0" bIns="0" rtlCol="0" anchor="ctr"/>
          <a:lstStyle/>
          <a:p>
            <a:pPr marL="0" indent="0">
              <a:lnSpc>
                <a:spcPts val="1100"/>
              </a:lnSpc>
              <a:buNone/>
            </a:pPr>
            <a:r>
              <a:rPr lang="en-US" sz="900" dirty="0">
                <a:solidFill>
                  <a:srgbClr val="C9D3E0"/>
                </a:solidFill>
                <a:latin typeface="Calibri" pitchFamily="34" charset="0"/>
                <a:ea typeface="Calibri" pitchFamily="34" charset="-122"/>
                <a:cs typeface="Calibri" pitchFamily="34" charset="-120"/>
              </a:rPr>
              <a:t>Maryland turnout, 2022 midterm</a:t>
            </a:r>
            <a:endParaRPr lang="en-US" sz="900" dirty="0"/>
          </a:p>
        </p:txBody>
      </p:sp>
      <p:sp>
        <p:nvSpPr>
          <p:cNvPr id="9" name="Text 7"/>
          <p:cNvSpPr/>
          <p:nvPr/>
        </p:nvSpPr>
        <p:spPr>
          <a:xfrm>
            <a:off x="6053328" y="1572768"/>
            <a:ext cx="868680" cy="411480"/>
          </a:xfrm>
          <a:prstGeom prst="rect">
            <a:avLst/>
          </a:prstGeom>
          <a:noFill/>
          <a:ln/>
        </p:spPr>
        <p:txBody>
          <a:bodyPr wrap="square" lIns="0" tIns="0" rIns="0" bIns="0"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&lt;20%</a:t>
            </a:r>
            <a:endParaRPr lang="en-US" sz="2300" dirty="0"/>
          </a:p>
        </p:txBody>
      </p:sp>
      <p:sp>
        <p:nvSpPr>
          <p:cNvPr id="10" name="Text 8"/>
          <p:cNvSpPr/>
          <p:nvPr/>
        </p:nvSpPr>
        <p:spPr>
          <a:xfrm>
            <a:off x="6949440" y="1554480"/>
            <a:ext cx="1481328" cy="457200"/>
          </a:xfrm>
          <a:prstGeom prst="rect">
            <a:avLst/>
          </a:prstGeom>
          <a:noFill/>
          <a:ln/>
        </p:spPr>
        <p:txBody>
          <a:bodyPr wrap="square" lIns="0" tIns="0" rIns="0" bIns="0" rtlCol="0" anchor="ctr"/>
          <a:lstStyle/>
          <a:p>
            <a:pPr marL="0" indent="0">
              <a:lnSpc>
                <a:spcPts val="1100"/>
              </a:lnSpc>
              <a:buNone/>
            </a:pPr>
            <a:r>
              <a:rPr lang="en-US" sz="900" dirty="0">
                <a:solidFill>
                  <a:srgbClr val="C9D3E0"/>
                </a:solidFill>
                <a:latin typeface="Calibri" pitchFamily="34" charset="0"/>
                <a:ea typeface="Calibri" pitchFamily="34" charset="-122"/>
                <a:cs typeface="Calibri" pitchFamily="34" charset="-120"/>
              </a:rPr>
              <a:t>Typical Maryland local election</a:t>
            </a:r>
            <a:endParaRPr lang="en-US" sz="900" dirty="0"/>
          </a:p>
        </p:txBody>
      </p:sp>
      <p:sp>
        <p:nvSpPr>
          <p:cNvPr id="11" name="Text 9"/>
          <p:cNvSpPr/>
          <p:nvPr/>
        </p:nvSpPr>
        <p:spPr>
          <a:xfrm>
            <a:off x="502920" y="2395728"/>
            <a:ext cx="4663440" cy="228600"/>
          </a:xfrm>
          <a:prstGeom prst="rect">
            <a:avLst/>
          </a:prstGeom>
          <a:noFill/>
          <a:ln/>
        </p:spPr>
        <p:txBody>
          <a:bodyPr wrap="square" lIns="0" tIns="0" rIns="0" bIns="0" rtlCol="0" anchor="ctr"/>
          <a:lstStyle/>
          <a:p>
            <a:pPr marL="0" indent="0">
              <a:buNone/>
            </a:pPr>
            <a:r>
              <a:rPr lang="en-US" sz="1100" b="1" kern="0" spc="150" dirty="0">
                <a:solidFill>
                  <a:srgbClr val="C77D2A"/>
                </a:solidFill>
                <a:latin typeface="Calibri" pitchFamily="34" charset="0"/>
                <a:ea typeface="Calibri" pitchFamily="34" charset="-122"/>
                <a:cs typeface="Calibri" pitchFamily="34" charset="-120"/>
              </a:rPr>
              <a:t>WHERE THE EFFORT GOES</a:t>
            </a:r>
            <a:endParaRPr lang="en-US" sz="1100" dirty="0"/>
          </a:p>
        </p:txBody>
      </p:sp>
      <p:sp>
        <p:nvSpPr>
          <p:cNvPr id="12" name="Shape 10"/>
          <p:cNvSpPr/>
          <p:nvPr/>
        </p:nvSpPr>
        <p:spPr>
          <a:xfrm>
            <a:off x="530352" y="2706624"/>
            <a:ext cx="64008" cy="64008"/>
          </a:xfrm>
          <a:prstGeom prst="rect">
            <a:avLst/>
          </a:prstGeom>
          <a:solidFill>
            <a:srgbClr val="C77D2A"/>
          </a:solidFill>
          <a:ln w="12700">
            <a:solidFill>
              <a:srgbClr val="C77D2A"/>
            </a:solidFill>
            <a:prstDash val="solid"/>
          </a:ln>
        </p:spPr>
      </p:sp>
      <p:sp>
        <p:nvSpPr>
          <p:cNvPr id="13" name="Text 11"/>
          <p:cNvSpPr/>
          <p:nvPr/>
        </p:nvSpPr>
        <p:spPr>
          <a:xfrm>
            <a:off x="713232" y="2651760"/>
            <a:ext cx="4453128" cy="411480"/>
          </a:xfrm>
          <a:prstGeom prst="rect">
            <a:avLst/>
          </a:prstGeom>
          <a:noFill/>
          <a:ln/>
        </p:spPr>
        <p:txBody>
          <a:bodyPr wrap="square" lIns="0" tIns="0" rIns="0" bIns="0" rtlCol="0" anchor="t"/>
          <a:lstStyle/>
          <a:p>
            <a:pPr marL="0" indent="0">
              <a:lnSpc>
                <a:spcPts val="1400"/>
              </a:lnSpc>
              <a:buNone/>
            </a:pPr>
            <a:r>
              <a:rPr lang="en-US" sz="1150" b="1" dirty="0">
                <a:solidFill>
                  <a:srgbClr val="16283C"/>
                </a:solidFill>
                <a:latin typeface="Calibri" pitchFamily="34" charset="0"/>
                <a:ea typeface="Calibri" pitchFamily="34" charset="-122"/>
                <a:cs typeface="Calibri" pitchFamily="34" charset="-120"/>
              </a:rPr>
              <a:t>Information is hard to find.</a:t>
            </a:r>
            <a:r>
              <a:rPr lang="en-US" sz="1150" dirty="0">
                <a:solidFill>
                  <a:srgbClr val="3A4A5E"/>
                </a:solidFill>
                <a:latin typeface="Calibri" pitchFamily="34" charset="0"/>
                <a:ea typeface="Calibri" pitchFamily="34" charset="-122"/>
                <a:cs typeface="Calibri" pitchFamily="34" charset="-120"/>
              </a:rPr>
              <a:t> Many down-ballot candidates have no website, no party label, and no funding to build one.</a:t>
            </a:r>
            <a:endParaRPr lang="en-US" sz="1150" dirty="0"/>
          </a:p>
        </p:txBody>
      </p:sp>
      <p:sp>
        <p:nvSpPr>
          <p:cNvPr id="14" name="Shape 12"/>
          <p:cNvSpPr/>
          <p:nvPr/>
        </p:nvSpPr>
        <p:spPr>
          <a:xfrm>
            <a:off x="530352" y="3200400"/>
            <a:ext cx="64008" cy="64008"/>
          </a:xfrm>
          <a:prstGeom prst="rect">
            <a:avLst/>
          </a:prstGeom>
          <a:solidFill>
            <a:srgbClr val="C77D2A"/>
          </a:solidFill>
          <a:ln w="12700">
            <a:solidFill>
              <a:srgbClr val="C77D2A"/>
            </a:solidFill>
            <a:prstDash val="solid"/>
          </a:ln>
        </p:spPr>
      </p:sp>
      <p:sp>
        <p:nvSpPr>
          <p:cNvPr id="15" name="Text 13"/>
          <p:cNvSpPr/>
          <p:nvPr/>
        </p:nvSpPr>
        <p:spPr>
          <a:xfrm>
            <a:off x="713232" y="3145536"/>
            <a:ext cx="4453128" cy="411480"/>
          </a:xfrm>
          <a:prstGeom prst="rect">
            <a:avLst/>
          </a:prstGeom>
          <a:noFill/>
          <a:ln/>
        </p:spPr>
        <p:txBody>
          <a:bodyPr wrap="square" lIns="0" tIns="0" rIns="0" bIns="0" rtlCol="0" anchor="t"/>
          <a:lstStyle/>
          <a:p>
            <a:pPr marL="0" indent="0">
              <a:lnSpc>
                <a:spcPts val="1400"/>
              </a:lnSpc>
              <a:buNone/>
            </a:pPr>
            <a:r>
              <a:rPr lang="en-US" sz="1150" b="1" dirty="0">
                <a:solidFill>
                  <a:srgbClr val="16283C"/>
                </a:solidFill>
                <a:latin typeface="Calibri" pitchFamily="34" charset="0"/>
                <a:ea typeface="Calibri" pitchFamily="34" charset="-122"/>
                <a:cs typeface="Calibri" pitchFamily="34" charset="-120"/>
              </a:rPr>
              <a:t>Roles are unclear.</a:t>
            </a:r>
            <a:r>
              <a:rPr lang="en-US" sz="1150" dirty="0">
                <a:solidFill>
                  <a:srgbClr val="3A4A5E"/>
                </a:solidFill>
                <a:latin typeface="Calibri" pitchFamily="34" charset="0"/>
                <a:ea typeface="Calibri" pitchFamily="34" charset="-122"/>
                <a:cs typeface="Calibri" pitchFamily="34" charset="-120"/>
              </a:rPr>
              <a:t> “What is a circuit court judge, and why do we vote for one?”</a:t>
            </a:r>
            <a:endParaRPr lang="en-US" sz="1150" dirty="0"/>
          </a:p>
        </p:txBody>
      </p:sp>
      <p:sp>
        <p:nvSpPr>
          <p:cNvPr id="16" name="Shape 14"/>
          <p:cNvSpPr/>
          <p:nvPr/>
        </p:nvSpPr>
        <p:spPr>
          <a:xfrm>
            <a:off x="530352" y="3694176"/>
            <a:ext cx="64008" cy="64008"/>
          </a:xfrm>
          <a:prstGeom prst="rect">
            <a:avLst/>
          </a:prstGeom>
          <a:solidFill>
            <a:srgbClr val="C77D2A"/>
          </a:solidFill>
          <a:ln w="12700">
            <a:solidFill>
              <a:srgbClr val="C77D2A"/>
            </a:solidFill>
            <a:prstDash val="solid"/>
          </a:ln>
        </p:spPr>
      </p:sp>
      <p:sp>
        <p:nvSpPr>
          <p:cNvPr id="17" name="Text 15"/>
          <p:cNvSpPr/>
          <p:nvPr/>
        </p:nvSpPr>
        <p:spPr>
          <a:xfrm>
            <a:off x="713232" y="3639312"/>
            <a:ext cx="4453128" cy="411480"/>
          </a:xfrm>
          <a:prstGeom prst="rect">
            <a:avLst/>
          </a:prstGeom>
          <a:noFill/>
          <a:ln/>
        </p:spPr>
        <p:txBody>
          <a:bodyPr wrap="square" lIns="0" tIns="0" rIns="0" bIns="0" rtlCol="0" anchor="t"/>
          <a:lstStyle/>
          <a:p>
            <a:pPr marL="0" indent="0">
              <a:lnSpc>
                <a:spcPts val="1400"/>
              </a:lnSpc>
              <a:buNone/>
            </a:pPr>
            <a:r>
              <a:rPr lang="en-US" sz="1150" b="1" dirty="0">
                <a:solidFill>
                  <a:srgbClr val="16283C"/>
                </a:solidFill>
                <a:latin typeface="Calibri" pitchFamily="34" charset="0"/>
                <a:ea typeface="Calibri" pitchFamily="34" charset="-122"/>
                <a:cs typeface="Calibri" pitchFamily="34" charset="-120"/>
              </a:rPr>
              <a:t>There is no common source.</a:t>
            </a:r>
            <a:r>
              <a:rPr lang="en-US" sz="1150" dirty="0">
                <a:solidFill>
                  <a:srgbClr val="3A4A5E"/>
                </a:solidFill>
                <a:latin typeface="Calibri" pitchFamily="34" charset="0"/>
                <a:ea typeface="Calibri" pitchFamily="34" charset="-122"/>
                <a:cs typeface="Calibri" pitchFamily="34" charset="-120"/>
              </a:rPr>
              <a:t> Candidate’s track records are hard to locate and verify.</a:t>
            </a:r>
            <a:endParaRPr lang="en-US" sz="1150" dirty="0"/>
          </a:p>
        </p:txBody>
      </p:sp>
      <p:sp>
        <p:nvSpPr>
          <p:cNvPr id="18" name="Shape 16"/>
          <p:cNvSpPr/>
          <p:nvPr/>
        </p:nvSpPr>
        <p:spPr>
          <a:xfrm>
            <a:off x="530352" y="4187952"/>
            <a:ext cx="64008" cy="64008"/>
          </a:xfrm>
          <a:prstGeom prst="rect">
            <a:avLst/>
          </a:prstGeom>
          <a:solidFill>
            <a:srgbClr val="C77D2A"/>
          </a:solidFill>
          <a:ln w="12700">
            <a:solidFill>
              <a:srgbClr val="C77D2A"/>
            </a:solidFill>
            <a:prstDash val="solid"/>
          </a:ln>
        </p:spPr>
      </p:sp>
      <p:sp>
        <p:nvSpPr>
          <p:cNvPr id="19" name="Text 17"/>
          <p:cNvSpPr/>
          <p:nvPr/>
        </p:nvSpPr>
        <p:spPr>
          <a:xfrm>
            <a:off x="713232" y="4133088"/>
            <a:ext cx="4453128" cy="411480"/>
          </a:xfrm>
          <a:prstGeom prst="rect">
            <a:avLst/>
          </a:prstGeom>
          <a:noFill/>
          <a:ln/>
        </p:spPr>
        <p:txBody>
          <a:bodyPr wrap="square" lIns="0" tIns="0" rIns="0" bIns="0" rtlCol="0" anchor="t"/>
          <a:lstStyle/>
          <a:p>
            <a:pPr marL="0" indent="0">
              <a:lnSpc>
                <a:spcPts val="1400"/>
              </a:lnSpc>
              <a:buNone/>
            </a:pPr>
            <a:r>
              <a:rPr lang="en-US" sz="1150" b="1" dirty="0">
                <a:solidFill>
                  <a:srgbClr val="16283C"/>
                </a:solidFill>
                <a:latin typeface="Calibri" pitchFamily="34" charset="0"/>
                <a:ea typeface="Calibri" pitchFamily="34" charset="-122"/>
                <a:cs typeface="Calibri" pitchFamily="34" charset="-120"/>
              </a:rPr>
              <a:t>Voting isn’t a habit.</a:t>
            </a:r>
            <a:r>
              <a:rPr lang="en-US" sz="1150" dirty="0">
                <a:solidFill>
                  <a:srgbClr val="3A4A5E"/>
                </a:solidFill>
                <a:latin typeface="Calibri" pitchFamily="34" charset="0"/>
                <a:ea typeface="Calibri" pitchFamily="34" charset="-122"/>
                <a:cs typeface="Calibri" pitchFamily="34" charset="-120"/>
              </a:rPr>
              <a:t> Only 41% of adults voted in all three recent national elections — and the barrier is often emotional.</a:t>
            </a:r>
            <a:endParaRPr lang="en-US" sz="1150" dirty="0"/>
          </a:p>
        </p:txBody>
      </p:sp>
      <p:sp>
        <p:nvSpPr>
          <p:cNvPr id="20" name="Text 18"/>
          <p:cNvSpPr/>
          <p:nvPr/>
        </p:nvSpPr>
        <p:spPr>
          <a:xfrm>
            <a:off x="5440680" y="2395728"/>
            <a:ext cx="3200400" cy="228600"/>
          </a:xfrm>
          <a:prstGeom prst="rect">
            <a:avLst/>
          </a:prstGeom>
          <a:noFill/>
          <a:ln/>
        </p:spPr>
        <p:txBody>
          <a:bodyPr wrap="square" lIns="0" tIns="0" rIns="0" bIns="0" rtlCol="0" anchor="ctr"/>
          <a:lstStyle/>
          <a:p>
            <a:pPr marL="0" indent="0">
              <a:buNone/>
            </a:pPr>
            <a:r>
              <a:rPr lang="en-US" sz="1100" b="1" kern="0" spc="150" dirty="0">
                <a:solidFill>
                  <a:srgbClr val="C77D2A"/>
                </a:solidFill>
                <a:latin typeface="Calibri" pitchFamily="34" charset="0"/>
                <a:ea typeface="Calibri" pitchFamily="34" charset="-122"/>
                <a:cs typeface="Calibri" pitchFamily="34" charset="-120"/>
              </a:rPr>
              <a:t>WHERE IT’S BEEN OVERCOME</a:t>
            </a:r>
            <a:endParaRPr lang="en-US" sz="1100" dirty="0"/>
          </a:p>
        </p:txBody>
      </p:sp>
      <p:sp>
        <p:nvSpPr>
          <p:cNvPr id="21" name="Shape 19"/>
          <p:cNvSpPr/>
          <p:nvPr/>
        </p:nvSpPr>
        <p:spPr>
          <a:xfrm>
            <a:off x="5468112" y="2702052"/>
            <a:ext cx="59436" cy="59436"/>
          </a:xfrm>
          <a:prstGeom prst="rect">
            <a:avLst/>
          </a:prstGeom>
          <a:solidFill>
            <a:srgbClr val="C77D2A"/>
          </a:solidFill>
          <a:ln w="12700">
            <a:solidFill>
              <a:srgbClr val="C77D2A"/>
            </a:solidFill>
            <a:prstDash val="solid"/>
          </a:ln>
        </p:spPr>
      </p:sp>
      <p:sp>
        <p:nvSpPr>
          <p:cNvPr id="22" name="Text 20"/>
          <p:cNvSpPr/>
          <p:nvPr/>
        </p:nvSpPr>
        <p:spPr>
          <a:xfrm>
            <a:off x="5632704" y="2651760"/>
            <a:ext cx="3008376" cy="457200"/>
          </a:xfrm>
          <a:prstGeom prst="rect">
            <a:avLst/>
          </a:prstGeom>
          <a:noFill/>
          <a:ln/>
        </p:spPr>
        <p:txBody>
          <a:bodyPr wrap="square" lIns="0" tIns="0" rIns="0" bIns="0" rtlCol="0" anchor="t"/>
          <a:lstStyle/>
          <a:p>
            <a:pPr marL="0" indent="0">
              <a:lnSpc>
                <a:spcPts val="1300"/>
              </a:lnSpc>
              <a:buNone/>
            </a:pPr>
            <a:r>
              <a:rPr lang="en-US" sz="1050" b="1" dirty="0">
                <a:solidFill>
                  <a:srgbClr val="16283C"/>
                </a:solidFill>
                <a:latin typeface="Calibri" pitchFamily="34" charset="0"/>
                <a:ea typeface="Calibri" pitchFamily="34" charset="-122"/>
                <a:cs typeface="Calibri" pitchFamily="34" charset="-120"/>
              </a:rPr>
              <a:t>Board of Education.</a:t>
            </a:r>
            <a:r>
              <a:rPr lang="en-US" sz="1050" dirty="0">
                <a:solidFill>
                  <a:srgbClr val="3A4A5E"/>
                </a:solidFill>
                <a:latin typeface="Calibri" pitchFamily="34" charset="0"/>
                <a:ea typeface="Calibri" pitchFamily="34" charset="-122"/>
                <a:cs typeface="Calibri" pitchFamily="34" charset="-120"/>
              </a:rPr>
              <a:t> Attention rose once people could see how the seats affect their own schools.</a:t>
            </a:r>
            <a:endParaRPr lang="en-US" sz="1050" dirty="0"/>
          </a:p>
        </p:txBody>
      </p:sp>
      <p:sp>
        <p:nvSpPr>
          <p:cNvPr id="23" name="Shape 21"/>
          <p:cNvSpPr/>
          <p:nvPr/>
        </p:nvSpPr>
        <p:spPr>
          <a:xfrm>
            <a:off x="5468112" y="3232404"/>
            <a:ext cx="59436" cy="59436"/>
          </a:xfrm>
          <a:prstGeom prst="rect">
            <a:avLst/>
          </a:prstGeom>
          <a:solidFill>
            <a:srgbClr val="C77D2A"/>
          </a:solidFill>
          <a:ln w="12700">
            <a:solidFill>
              <a:srgbClr val="C77D2A"/>
            </a:solidFill>
            <a:prstDash val="solid"/>
          </a:ln>
        </p:spPr>
      </p:sp>
      <p:sp>
        <p:nvSpPr>
          <p:cNvPr id="24" name="Text 22"/>
          <p:cNvSpPr/>
          <p:nvPr/>
        </p:nvSpPr>
        <p:spPr>
          <a:xfrm>
            <a:off x="5632704" y="3182112"/>
            <a:ext cx="3008376" cy="457200"/>
          </a:xfrm>
          <a:prstGeom prst="rect">
            <a:avLst/>
          </a:prstGeom>
          <a:noFill/>
          <a:ln/>
        </p:spPr>
        <p:txBody>
          <a:bodyPr wrap="square" lIns="0" tIns="0" rIns="0" bIns="0" rtlCol="0" anchor="t"/>
          <a:lstStyle/>
          <a:p>
            <a:pPr marL="0" indent="0">
              <a:lnSpc>
                <a:spcPts val="1300"/>
              </a:lnSpc>
              <a:buNone/>
            </a:pPr>
            <a:r>
              <a:rPr lang="en-US" sz="1050" b="1" dirty="0">
                <a:solidFill>
                  <a:srgbClr val="16283C"/>
                </a:solidFill>
                <a:latin typeface="Calibri" pitchFamily="34" charset="0"/>
                <a:ea typeface="Calibri" pitchFamily="34" charset="-122"/>
                <a:cs typeface="Calibri" pitchFamily="34" charset="-120"/>
              </a:rPr>
              <a:t>Candidate surveys.</a:t>
            </a:r>
            <a:r>
              <a:rPr lang="en-US" sz="1050" dirty="0">
                <a:solidFill>
                  <a:srgbClr val="3A4A5E"/>
                </a:solidFill>
                <a:latin typeface="Calibri" pitchFamily="34" charset="0"/>
                <a:ea typeface="Calibri" pitchFamily="34" charset="-122"/>
                <a:cs typeface="Calibri" pitchFamily="34" charset="-120"/>
              </a:rPr>
              <a:t> Frederick advocacy groups poll every candidate and publish the answers — including who declined to answer.</a:t>
            </a:r>
            <a:endParaRPr lang="en-US" sz="1050" dirty="0"/>
          </a:p>
        </p:txBody>
      </p:sp>
      <p:sp>
        <p:nvSpPr>
          <p:cNvPr id="25" name="Shape 23"/>
          <p:cNvSpPr/>
          <p:nvPr/>
        </p:nvSpPr>
        <p:spPr>
          <a:xfrm>
            <a:off x="5468112" y="3762756"/>
            <a:ext cx="59436" cy="59436"/>
          </a:xfrm>
          <a:prstGeom prst="rect">
            <a:avLst/>
          </a:prstGeom>
          <a:solidFill>
            <a:srgbClr val="C77D2A"/>
          </a:solidFill>
          <a:ln w="12700">
            <a:solidFill>
              <a:srgbClr val="C77D2A"/>
            </a:solidFill>
            <a:prstDash val="solid"/>
          </a:ln>
        </p:spPr>
      </p:sp>
      <p:sp>
        <p:nvSpPr>
          <p:cNvPr id="26" name="Text 24"/>
          <p:cNvSpPr/>
          <p:nvPr/>
        </p:nvSpPr>
        <p:spPr>
          <a:xfrm>
            <a:off x="5632704" y="3712464"/>
            <a:ext cx="3008376" cy="365760"/>
          </a:xfrm>
          <a:prstGeom prst="rect">
            <a:avLst/>
          </a:prstGeom>
          <a:noFill/>
          <a:ln/>
        </p:spPr>
        <p:txBody>
          <a:bodyPr wrap="square" lIns="0" tIns="0" rIns="0" bIns="0" rtlCol="0" anchor="t"/>
          <a:lstStyle/>
          <a:p>
            <a:pPr marL="0" indent="0">
              <a:lnSpc>
                <a:spcPts val="1300"/>
              </a:lnSpc>
              <a:buNone/>
            </a:pPr>
            <a:r>
              <a:rPr lang="en-US" sz="1050" b="1" dirty="0">
                <a:solidFill>
                  <a:srgbClr val="16283C"/>
                </a:solidFill>
                <a:latin typeface="Calibri" pitchFamily="34" charset="0"/>
                <a:ea typeface="Calibri" pitchFamily="34" charset="-122"/>
                <a:cs typeface="Calibri" pitchFamily="34" charset="-120"/>
              </a:rPr>
              <a:t>Fewer steps.</a:t>
            </a:r>
            <a:r>
              <a:rPr lang="en-US" sz="1050" dirty="0">
                <a:solidFill>
                  <a:srgbClr val="3A4A5E"/>
                </a:solidFill>
                <a:latin typeface="Calibri" pitchFamily="34" charset="0"/>
                <a:ea typeface="Calibri" pitchFamily="34" charset="-122"/>
                <a:cs typeface="Calibri" pitchFamily="34" charset="-120"/>
              </a:rPr>
              <a:t> Rockville turnout nearly doubled — 15% to 27% — under vote-at-home.</a:t>
            </a:r>
            <a:endParaRPr lang="en-US" sz="1050" dirty="0"/>
          </a:p>
        </p:txBody>
      </p:sp>
      <p:sp>
        <p:nvSpPr>
          <p:cNvPr id="27" name="Text 25"/>
          <p:cNvSpPr/>
          <p:nvPr/>
        </p:nvSpPr>
        <p:spPr>
          <a:xfrm>
            <a:off x="502920" y="4626864"/>
            <a:ext cx="8138160" cy="310896"/>
          </a:xfrm>
          <a:prstGeom prst="rect">
            <a:avLst/>
          </a:prstGeom>
          <a:noFill/>
          <a:ln/>
        </p:spPr>
        <p:txBody>
          <a:bodyPr wrap="square" lIns="0" tIns="0" rIns="0" bIns="0" rtlCol="0" anchor="ctr"/>
          <a:lstStyle/>
          <a:p>
            <a:pPr marL="0" indent="0">
              <a:lnSpc>
                <a:spcPts val="1000"/>
              </a:lnSpc>
              <a:buNone/>
            </a:pPr>
            <a:r>
              <a:rPr lang="en-US" sz="750" dirty="0">
                <a:solidFill>
                  <a:srgbClr val="7A879A"/>
                </a:solidFill>
                <a:latin typeface="Calibri" pitchFamily="34" charset="0"/>
                <a:ea typeface="Calibri" pitchFamily="34" charset="-122"/>
                <a:cs typeface="Calibri" pitchFamily="34" charset="-120"/>
              </a:rPr>
              <a:t>Sources: Ballotpedia, Voter Turnout in Maryland  ·  Pew Research Center, Voter Turnout 2020–2024 (2025)  ·  Nonprofit VOTE (2025)  ·  Fair Elections Center (2025)  ·  The Washington Post, “Why don’t Marylanders vote?” (2019)  ·  Interview, Frederick County, MD</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495</Words>
  <Application>Microsoft Office PowerPoint</Application>
  <PresentationFormat>On-screen Show (16:9)</PresentationFormat>
  <Paragraphs>20</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Cambria</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Finn Hall</cp:lastModifiedBy>
  <cp:revision>2</cp:revision>
  <dcterms:created xsi:type="dcterms:W3CDTF">2026-08-10T21:01:44Z</dcterms:created>
  <dcterms:modified xsi:type="dcterms:W3CDTF">2026-08-10T21:12:29Z</dcterms:modified>
</cp:coreProperties>
</file>