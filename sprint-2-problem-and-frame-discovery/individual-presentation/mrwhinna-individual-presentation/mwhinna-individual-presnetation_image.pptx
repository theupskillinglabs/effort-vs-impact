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932F"/>
    <a:srgbClr val="FFFFFF"/>
    <a:srgbClr val="8B93A3"/>
    <a:srgbClr val="1D4999"/>
    <a:srgbClr val="152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122D3-18B7-4A0A-A5FA-1928A93D3A50}" v="6" dt="2026-08-09T02:43:36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501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Whinna" userId="b1633d48a6439f2f" providerId="LiveId" clId="{7D9F5C82-8DE5-4D2D-8407-995767BDE3BC}"/>
    <pc:docChg chg="undo custSel addSld delSld modSld">
      <pc:chgData name="Meg Whinna" userId="b1633d48a6439f2f" providerId="LiveId" clId="{7D9F5C82-8DE5-4D2D-8407-995767BDE3BC}" dt="2026-08-09T02:43:36.769" v="16"/>
      <pc:docMkLst>
        <pc:docMk/>
      </pc:docMkLst>
      <pc:sldChg chg="modSp add del mod">
        <pc:chgData name="Meg Whinna" userId="b1633d48a6439f2f" providerId="LiveId" clId="{7D9F5C82-8DE5-4D2D-8407-995767BDE3BC}" dt="2026-08-09T02:42:05.706" v="3" actId="20577"/>
        <pc:sldMkLst>
          <pc:docMk/>
          <pc:sldMk cId="0" sldId="256"/>
        </pc:sldMkLst>
        <pc:spChg chg="mod">
          <ac:chgData name="Meg Whinna" userId="b1633d48a6439f2f" providerId="LiveId" clId="{7D9F5C82-8DE5-4D2D-8407-995767BDE3BC}" dt="2026-08-09T02:42:05.706" v="3" actId="20577"/>
          <ac:spMkLst>
            <pc:docMk/>
            <pc:sldMk cId="0" sldId="256"/>
            <ac:spMk id="60" creationId="{00000000-0000-0000-0000-000000000000}"/>
          </ac:spMkLst>
        </pc:spChg>
      </pc:sldChg>
      <pc:sldChg chg="addSp delSp modSp mod delAnim modAnim">
        <pc:chgData name="Meg Whinna" userId="b1633d48a6439f2f" providerId="LiveId" clId="{7D9F5C82-8DE5-4D2D-8407-995767BDE3BC}" dt="2026-08-09T02:43:36.769" v="16"/>
        <pc:sldMkLst>
          <pc:docMk/>
          <pc:sldMk cId="3851752744" sldId="257"/>
        </pc:sldMkLst>
        <pc:spChg chg="mod">
          <ac:chgData name="Meg Whinna" userId="b1633d48a6439f2f" providerId="LiveId" clId="{7D9F5C82-8DE5-4D2D-8407-995767BDE3BC}" dt="2026-08-09T02:42:28.930" v="4"/>
          <ac:spMkLst>
            <pc:docMk/>
            <pc:sldMk cId="3851752744" sldId="257"/>
            <ac:spMk id="180" creationId="{0ECFE280-9B6A-7F4E-34C3-361E2738F8FC}"/>
          </ac:spMkLst>
        </pc:spChg>
        <pc:spChg chg="mod">
          <ac:chgData name="Meg Whinna" userId="b1633d48a6439f2f" providerId="LiveId" clId="{7D9F5C82-8DE5-4D2D-8407-995767BDE3BC}" dt="2026-08-09T02:42:28.930" v="4"/>
          <ac:spMkLst>
            <pc:docMk/>
            <pc:sldMk cId="3851752744" sldId="257"/>
            <ac:spMk id="181" creationId="{3328EC8E-0503-C422-B085-E66607C78309}"/>
          </ac:spMkLst>
        </pc:spChg>
        <pc:spChg chg="mod">
          <ac:chgData name="Meg Whinna" userId="b1633d48a6439f2f" providerId="LiveId" clId="{7D9F5C82-8DE5-4D2D-8407-995767BDE3BC}" dt="2026-08-09T02:42:28.930" v="4"/>
          <ac:spMkLst>
            <pc:docMk/>
            <pc:sldMk cId="3851752744" sldId="257"/>
            <ac:spMk id="182" creationId="{4358DED9-96B8-DB62-E783-BB2DD17B192C}"/>
          </ac:spMkLst>
        </pc:spChg>
        <pc:spChg chg="mod">
          <ac:chgData name="Meg Whinna" userId="b1633d48a6439f2f" providerId="LiveId" clId="{7D9F5C82-8DE5-4D2D-8407-995767BDE3BC}" dt="2026-08-09T02:42:28.930" v="4"/>
          <ac:spMkLst>
            <pc:docMk/>
            <pc:sldMk cId="3851752744" sldId="257"/>
            <ac:spMk id="183" creationId="{3247D9E1-8FD4-CC16-BB84-6D56400E102A}"/>
          </ac:spMkLst>
        </pc:spChg>
        <pc:grpChg chg="add del mod">
          <ac:chgData name="Meg Whinna" userId="b1633d48a6439f2f" providerId="LiveId" clId="{7D9F5C82-8DE5-4D2D-8407-995767BDE3BC}" dt="2026-08-09T02:42:46.091" v="9" actId="478"/>
          <ac:grpSpMkLst>
            <pc:docMk/>
            <pc:sldMk cId="3851752744" sldId="257"/>
            <ac:grpSpMk id="179" creationId="{7A103B76-D163-CA74-8C38-646164A81CFD}"/>
          </ac:grpSpMkLst>
        </pc:grpChg>
        <pc:picChg chg="del">
          <ac:chgData name="Meg Whinna" userId="b1633d48a6439f2f" providerId="LiveId" clId="{7D9F5C82-8DE5-4D2D-8407-995767BDE3BC}" dt="2026-08-09T02:42:47.735" v="10" actId="478"/>
          <ac:picMkLst>
            <pc:docMk/>
            <pc:sldMk cId="3851752744" sldId="257"/>
            <ac:picMk id="130" creationId="{A610965D-B702-4602-3AF6-350ED796063F}"/>
          </ac:picMkLst>
        </pc:picChg>
        <pc:picChg chg="add del mod">
          <ac:chgData name="Meg Whinna" userId="b1633d48a6439f2f" providerId="LiveId" clId="{7D9F5C82-8DE5-4D2D-8407-995767BDE3BC}" dt="2026-08-09T02:42:44.677" v="8" actId="21"/>
          <ac:picMkLst>
            <pc:docMk/>
            <pc:sldMk cId="3851752744" sldId="257"/>
            <ac:picMk id="185" creationId="{ADCFEE81-F648-A67B-20C5-F2A80A3EDEF8}"/>
          </ac:picMkLst>
        </pc:picChg>
        <pc:picChg chg="add">
          <ac:chgData name="Meg Whinna" userId="b1633d48a6439f2f" providerId="LiveId" clId="{7D9F5C82-8DE5-4D2D-8407-995767BDE3BC}" dt="2026-08-09T02:42:48.275" v="11" actId="22"/>
          <ac:picMkLst>
            <pc:docMk/>
            <pc:sldMk cId="3851752744" sldId="257"/>
            <ac:picMk id="187" creationId="{D496322E-F9B6-B890-A1B6-EF592E422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88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41248"/>
            <a:ext cx="11548872" cy="0"/>
          </a:xfrm>
          <a:prstGeom prst="line">
            <a:avLst/>
          </a:prstGeom>
          <a:noFill/>
          <a:ln w="25400">
            <a:solidFill>
              <a:srgbClr val="15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 ·  INDIVIDUAL FIELDWORK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We Keep Losing People In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503920" y="329184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Whinna August 2026</a:t>
            </a:r>
            <a:endParaRPr lang="en-US" sz="1050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EC1DCEC2-1C0E-931E-14DE-056189B2BE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28478" y="3181335"/>
            <a:ext cx="877824" cy="877824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F6D6A382-F651-56DE-F8CE-4699319BFDE9}"/>
              </a:ext>
            </a:extLst>
          </p:cNvPr>
          <p:cNvGrpSpPr/>
          <p:nvPr/>
        </p:nvGrpSpPr>
        <p:grpSpPr>
          <a:xfrm>
            <a:off x="5043096" y="3981569"/>
            <a:ext cx="1013175" cy="246888"/>
            <a:chOff x="4671968" y="3955226"/>
            <a:chExt cx="1463040" cy="246888"/>
          </a:xfrm>
        </p:grpSpPr>
        <p:sp>
          <p:nvSpPr>
            <p:cNvPr id="19" name="Shape 17"/>
            <p:cNvSpPr/>
            <p:nvPr/>
          </p:nvSpPr>
          <p:spPr>
            <a:xfrm>
              <a:off x="4671968" y="3955226"/>
              <a:ext cx="1463040" cy="246888"/>
            </a:xfrm>
            <a:prstGeom prst="roundRect">
              <a:avLst>
                <a:gd name="adj" fmla="val 18519"/>
              </a:avLst>
            </a:prstGeom>
            <a:solidFill>
              <a:srgbClr val="152238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671968" y="3955226"/>
              <a:ext cx="146304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kern="0" spc="3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SPECTATOR</a:t>
              </a:r>
              <a:endParaRPr lang="en-US" sz="1200" dirty="0"/>
            </a:p>
          </p:txBody>
        </p:sp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669EA545-EAE5-29BE-D7E8-3A41AFDF947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D4A63"/>
              </a:clrFrom>
              <a:clrTo>
                <a:srgbClr val="3D4A63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11566" y="3272776"/>
            <a:ext cx="877824" cy="877824"/>
          </a:xfrm>
          <a:prstGeom prst="rect">
            <a:avLst/>
          </a:prstGeom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6FCEDDF0-40FC-3B06-B167-642E1DEE6386}"/>
              </a:ext>
            </a:extLst>
          </p:cNvPr>
          <p:cNvGrpSpPr/>
          <p:nvPr/>
        </p:nvGrpSpPr>
        <p:grpSpPr>
          <a:xfrm>
            <a:off x="1298891" y="4122788"/>
            <a:ext cx="1079531" cy="219456"/>
            <a:chOff x="997312" y="3955226"/>
            <a:chExt cx="1463040" cy="246888"/>
          </a:xfrm>
        </p:grpSpPr>
        <p:sp>
          <p:nvSpPr>
            <p:cNvPr id="23" name="Shape 21"/>
            <p:cNvSpPr/>
            <p:nvPr/>
          </p:nvSpPr>
          <p:spPr>
            <a:xfrm>
              <a:off x="997312" y="3955226"/>
              <a:ext cx="1463040" cy="246888"/>
            </a:xfrm>
            <a:prstGeom prst="roundRect">
              <a:avLst>
                <a:gd name="adj" fmla="val 18519"/>
              </a:avLst>
            </a:prstGeom>
            <a:solidFill>
              <a:srgbClr val="152238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997312" y="3955226"/>
              <a:ext cx="146304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kern="0" spc="3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CONNECTOR</a:t>
              </a:r>
              <a:endParaRPr lang="en-US" sz="1200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2C3DB30-523D-6D68-B109-0872EF11EF3C}"/>
              </a:ext>
            </a:extLst>
          </p:cNvPr>
          <p:cNvGrpSpPr/>
          <p:nvPr/>
        </p:nvGrpSpPr>
        <p:grpSpPr>
          <a:xfrm>
            <a:off x="2403302" y="1945715"/>
            <a:ext cx="2594583" cy="2673351"/>
            <a:chOff x="2268420" y="2285377"/>
            <a:chExt cx="2631820" cy="2725534"/>
          </a:xfrm>
        </p:grpSpPr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9FD1C92-209E-9170-192C-39A4A2C5E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8420" y="2285377"/>
              <a:ext cx="2631820" cy="2725534"/>
            </a:xfrm>
            <a:prstGeom prst="rect">
              <a:avLst/>
            </a:prstGeom>
          </p:spPr>
        </p:pic>
        <p:sp>
          <p:nvSpPr>
            <p:cNvPr id="28" name="Text 26"/>
            <p:cNvSpPr/>
            <p:nvPr/>
          </p:nvSpPr>
          <p:spPr>
            <a:xfrm>
              <a:off x="2915215" y="2774845"/>
              <a:ext cx="1309830" cy="17156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223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THE CHOICE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5223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TO CONTINUE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5223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ENGAGING</a:t>
              </a:r>
              <a:endParaRPr lang="en-US" sz="16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CA47821-EF1A-0440-A24A-480E58109C84}"/>
              </a:ext>
            </a:extLst>
          </p:cNvPr>
          <p:cNvGrpSpPr/>
          <p:nvPr/>
        </p:nvGrpSpPr>
        <p:grpSpPr>
          <a:xfrm>
            <a:off x="4549990" y="1828799"/>
            <a:ext cx="2734632" cy="920903"/>
            <a:chOff x="502919" y="4160519"/>
            <a:chExt cx="2534442" cy="920903"/>
          </a:xfrm>
        </p:grpSpPr>
        <p:sp>
          <p:nvSpPr>
            <p:cNvPr id="29" name="Shape 27"/>
            <p:cNvSpPr/>
            <p:nvPr/>
          </p:nvSpPr>
          <p:spPr>
            <a:xfrm>
              <a:off x="502919" y="4160519"/>
              <a:ext cx="2519419" cy="920903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2700">
              <a:solidFill>
                <a:srgbClr val="C1932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94360" y="4206240"/>
              <a:ext cx="1920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800"/>
                </a:lnSpc>
                <a:buNone/>
              </a:pPr>
              <a:r>
                <a:rPr lang="en-US" sz="1000" b="1" kern="0" spc="30" dirty="0">
                  <a:solidFill>
                    <a:srgbClr val="C193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· DROP OFF – WANT TO ACT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94360" y="4453128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5223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65%</a:t>
              </a:r>
              <a:endParaRPr lang="en-US" sz="2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17941" y="4734810"/>
              <a:ext cx="25194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say community decisions are dominated by the same "usual suspects"</a:t>
              </a:r>
              <a:endParaRPr lang="en-US" sz="12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BAE88EE-DFE3-6082-800D-FACD73241E17}"/>
              </a:ext>
            </a:extLst>
          </p:cNvPr>
          <p:cNvGrpSpPr/>
          <p:nvPr/>
        </p:nvGrpSpPr>
        <p:grpSpPr>
          <a:xfrm>
            <a:off x="2544074" y="4541964"/>
            <a:ext cx="2422043" cy="980627"/>
            <a:chOff x="2724912" y="4160520"/>
            <a:chExt cx="2103120" cy="868680"/>
          </a:xfrm>
        </p:grpSpPr>
        <p:sp>
          <p:nvSpPr>
            <p:cNvPr id="33" name="Shape 31"/>
            <p:cNvSpPr/>
            <p:nvPr/>
          </p:nvSpPr>
          <p:spPr>
            <a:xfrm>
              <a:off x="2724912" y="4160520"/>
              <a:ext cx="210312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2700">
              <a:solidFill>
                <a:srgbClr val="C1932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2816352" y="4206240"/>
              <a:ext cx="1920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800"/>
                </a:lnSpc>
                <a:buNone/>
              </a:pPr>
              <a:r>
                <a:rPr lang="en-US" sz="1000" b="1" kern="0" spc="30" dirty="0">
                  <a:solidFill>
                    <a:srgbClr val="C193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· DROP OFF – KNOW HOW TO ACT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2816352" y="442000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5223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9%</a:t>
              </a:r>
              <a:endParaRPr lang="en-US" sz="2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816352" y="4709160"/>
              <a:ext cx="19202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people say they receive public information on time</a:t>
              </a:r>
              <a:endParaRPr lang="en-US" sz="120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2482EBE-B81E-2141-2EB0-4DA0385B32DF}"/>
              </a:ext>
            </a:extLst>
          </p:cNvPr>
          <p:cNvGrpSpPr/>
          <p:nvPr/>
        </p:nvGrpSpPr>
        <p:grpSpPr>
          <a:xfrm>
            <a:off x="561153" y="1750301"/>
            <a:ext cx="2430462" cy="999403"/>
            <a:chOff x="4946904" y="4160520"/>
            <a:chExt cx="2103120" cy="868680"/>
          </a:xfrm>
        </p:grpSpPr>
        <p:sp>
          <p:nvSpPr>
            <p:cNvPr id="37" name="Shape 35"/>
            <p:cNvSpPr/>
            <p:nvPr/>
          </p:nvSpPr>
          <p:spPr>
            <a:xfrm>
              <a:off x="4946904" y="4160520"/>
              <a:ext cx="210312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2700">
              <a:solidFill>
                <a:srgbClr val="C1932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5038344" y="4206240"/>
              <a:ext cx="1920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800"/>
                </a:lnSpc>
                <a:buNone/>
              </a:pPr>
              <a:r>
                <a:rPr lang="en-US" sz="1000" b="1" kern="0" spc="30" dirty="0">
                  <a:solidFill>
                    <a:srgbClr val="C193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· DROP OFF –IMPACT: ACT AGAIN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5038344" y="4387828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5223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37%</a:t>
              </a:r>
              <a:endParaRPr lang="en-US" sz="2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038344" y="4709160"/>
              <a:ext cx="19202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doubt their involvement would make a difference</a:t>
              </a:r>
            </a:p>
          </p:txBody>
        </p:sp>
      </p:grpSp>
      <p:sp>
        <p:nvSpPr>
          <p:cNvPr id="41" name="Text 39"/>
          <p:cNvSpPr/>
          <p:nvPr/>
        </p:nvSpPr>
        <p:spPr>
          <a:xfrm>
            <a:off x="420624" y="5593477"/>
            <a:ext cx="6903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CIRCLE/Tufts 2026 · National Civic League 2025 — full citations in the companion briefing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452360" y="932688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9235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44968" y="9372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52360" y="1193101"/>
            <a:ext cx="4416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Pew's Four Engagement Segments</a:t>
            </a:r>
            <a:endParaRPr lang="en-US" sz="1600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6092C5B-04C4-04AC-12F7-982859B8BEE7}"/>
              </a:ext>
            </a:extLst>
          </p:cNvPr>
          <p:cNvGrpSpPr/>
          <p:nvPr/>
        </p:nvGrpSpPr>
        <p:grpSpPr>
          <a:xfrm>
            <a:off x="7452360" y="1499616"/>
            <a:ext cx="2116836" cy="1810512"/>
            <a:chOff x="7452360" y="1499616"/>
            <a:chExt cx="2116836" cy="1810512"/>
          </a:xfrm>
        </p:grpSpPr>
        <p:sp>
          <p:nvSpPr>
            <p:cNvPr id="46" name="Shape 44"/>
            <p:cNvSpPr/>
            <p:nvPr/>
          </p:nvSpPr>
          <p:spPr>
            <a:xfrm>
              <a:off x="7452360" y="1499616"/>
              <a:ext cx="2116836" cy="1810512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5875">
              <a:solidFill>
                <a:srgbClr val="E3E7EE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7598664" y="1699529"/>
              <a:ext cx="18242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kern="0" spc="5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MOBILIZERS</a:t>
              </a:r>
              <a:endParaRPr lang="en-US" sz="2400" dirty="0">
                <a:solidFill>
                  <a:srgbClr val="152238"/>
                </a:solidFill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7564374" y="1944665"/>
              <a:ext cx="1858518" cy="928116"/>
            </a:xfrm>
            <a:prstGeom prst="rect">
              <a:avLst/>
            </a:prstGeom>
            <a:noFill/>
            <a:ln/>
          </p:spPr>
          <p:txBody>
            <a:bodyPr wrap="none" rtlCol="0" anchor="ctr"/>
            <a:lstStyle/>
            <a:p>
              <a:pPr marL="0" indent="0" algn="ctr">
                <a:buNone/>
              </a:pPr>
              <a:r>
                <a:rPr lang="en-US" sz="6000" b="1" dirty="0">
                  <a:solidFill>
                    <a:srgbClr val="C1932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9%</a:t>
              </a:r>
              <a:endParaRPr lang="en-US" sz="6000" dirty="0">
                <a:solidFill>
                  <a:srgbClr val="C1932F"/>
                </a:solidFill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7598664" y="2967228"/>
              <a:ext cx="1824228" cy="2697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300" b="1" dirty="0">
                  <a:solidFill>
                    <a:srgbClr val="8B93A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Do It All</a:t>
              </a:r>
              <a:endParaRPr lang="en-US" sz="1300" dirty="0">
                <a:solidFill>
                  <a:srgbClr val="8B93A3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062D1DC-F8DA-AABE-EE02-3DE865CB5B9C}"/>
              </a:ext>
            </a:extLst>
          </p:cNvPr>
          <p:cNvGrpSpPr/>
          <p:nvPr/>
        </p:nvGrpSpPr>
        <p:grpSpPr>
          <a:xfrm>
            <a:off x="9691055" y="1499616"/>
            <a:ext cx="2177857" cy="1810512"/>
            <a:chOff x="9691055" y="1499616"/>
            <a:chExt cx="2177857" cy="1810512"/>
          </a:xfrm>
        </p:grpSpPr>
        <p:sp>
          <p:nvSpPr>
            <p:cNvPr id="50" name="Shape 48"/>
            <p:cNvSpPr/>
            <p:nvPr/>
          </p:nvSpPr>
          <p:spPr>
            <a:xfrm>
              <a:off x="9752076" y="1499616"/>
              <a:ext cx="2116836" cy="1810512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5875">
              <a:solidFill>
                <a:srgbClr val="E3E7EE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9691055" y="1610340"/>
              <a:ext cx="2116836" cy="37954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kern="0" spc="5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CONNECTORS</a:t>
              </a:r>
              <a:endParaRPr lang="en-US" sz="2400" dirty="0">
                <a:solidFill>
                  <a:srgbClr val="152238"/>
                </a:solidFill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9870948" y="1930949"/>
              <a:ext cx="1851660" cy="987552"/>
            </a:xfrm>
            <a:prstGeom prst="rect">
              <a:avLst/>
            </a:prstGeom>
            <a:noFill/>
            <a:ln/>
          </p:spPr>
          <p:txBody>
            <a:bodyPr wrap="none" rtlCol="0" anchor="ctr"/>
            <a:lstStyle/>
            <a:p>
              <a:pPr marL="0" indent="0" algn="ctr">
                <a:buNone/>
              </a:pPr>
              <a:r>
                <a:rPr lang="en-US" sz="6000" b="1" dirty="0">
                  <a:solidFill>
                    <a:srgbClr val="8B93A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28%</a:t>
              </a:r>
              <a:endParaRPr lang="en-US" sz="6000" dirty="0">
                <a:solidFill>
                  <a:srgbClr val="8B93A3"/>
                </a:solidFill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9898380" y="2907792"/>
              <a:ext cx="1824228" cy="3291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300" b="1" dirty="0">
                  <a:solidFill>
                    <a:srgbClr val="8B93A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Community Engaged</a:t>
              </a:r>
              <a:endParaRPr lang="en-US" sz="1300" dirty="0">
                <a:solidFill>
                  <a:srgbClr val="8B93A3"/>
                </a:solidFill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78B0B3E-0718-D885-7291-6BF287CB50B5}"/>
              </a:ext>
            </a:extLst>
          </p:cNvPr>
          <p:cNvGrpSpPr/>
          <p:nvPr/>
        </p:nvGrpSpPr>
        <p:grpSpPr>
          <a:xfrm>
            <a:off x="7452360" y="3493008"/>
            <a:ext cx="2116836" cy="1810512"/>
            <a:chOff x="7452360" y="3493008"/>
            <a:chExt cx="2116836" cy="1810512"/>
          </a:xfrm>
        </p:grpSpPr>
        <p:sp>
          <p:nvSpPr>
            <p:cNvPr id="54" name="Shape 52"/>
            <p:cNvSpPr/>
            <p:nvPr/>
          </p:nvSpPr>
          <p:spPr>
            <a:xfrm>
              <a:off x="7452360" y="3493008"/>
              <a:ext cx="2116836" cy="1810512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5875">
              <a:solidFill>
                <a:srgbClr val="E3E7EE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7547117" y="3603732"/>
              <a:ext cx="197053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kern="0" spc="5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SPECTATORS</a:t>
              </a:r>
              <a:endParaRPr lang="en-US" sz="2400" dirty="0">
                <a:solidFill>
                  <a:srgbClr val="152238"/>
                </a:solidFill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7571232" y="3924341"/>
              <a:ext cx="1895856" cy="960120"/>
            </a:xfrm>
            <a:prstGeom prst="rect">
              <a:avLst/>
            </a:prstGeom>
            <a:noFill/>
            <a:ln/>
          </p:spPr>
          <p:txBody>
            <a:bodyPr wrap="none" rtlCol="0" anchor="ctr"/>
            <a:lstStyle/>
            <a:p>
              <a:pPr marL="0" indent="0" algn="ctr">
                <a:buNone/>
              </a:pPr>
              <a:r>
                <a:rPr lang="en-US" sz="6000" b="1" dirty="0">
                  <a:solidFill>
                    <a:srgbClr val="1D499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31%</a:t>
              </a:r>
              <a:endParaRPr lang="en-US" sz="6000" dirty="0">
                <a:solidFill>
                  <a:srgbClr val="1D4999"/>
                </a:solidFill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7598664" y="4846320"/>
              <a:ext cx="182422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300" b="1" dirty="0">
                  <a:solidFill>
                    <a:srgbClr val="8B93A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Follow Along</a:t>
              </a:r>
              <a:endParaRPr lang="en-US" sz="1300" dirty="0">
                <a:solidFill>
                  <a:srgbClr val="8B93A3"/>
                </a:solidFill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9EDB3FD-9078-1520-A1C1-EB5E3D09251C}"/>
              </a:ext>
            </a:extLst>
          </p:cNvPr>
          <p:cNvGrpSpPr/>
          <p:nvPr/>
        </p:nvGrpSpPr>
        <p:grpSpPr>
          <a:xfrm>
            <a:off x="9752076" y="3493008"/>
            <a:ext cx="2116836" cy="1810512"/>
            <a:chOff x="9752076" y="3493008"/>
            <a:chExt cx="2116836" cy="1810512"/>
          </a:xfrm>
        </p:grpSpPr>
        <p:sp>
          <p:nvSpPr>
            <p:cNvPr id="58" name="Shape 56"/>
            <p:cNvSpPr/>
            <p:nvPr/>
          </p:nvSpPr>
          <p:spPr>
            <a:xfrm>
              <a:off x="9752076" y="3493008"/>
              <a:ext cx="2116836" cy="1810512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5875">
              <a:solidFill>
                <a:srgbClr val="E3E7EE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9898380" y="3640308"/>
              <a:ext cx="18242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kern="0" spc="50" dirty="0">
                  <a:solidFill>
                    <a:srgbClr val="15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OUTSIDERS</a:t>
              </a:r>
              <a:endParaRPr lang="en-US" sz="2400" dirty="0">
                <a:solidFill>
                  <a:srgbClr val="152238"/>
                </a:solidFill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9870948" y="3924341"/>
              <a:ext cx="1933956" cy="922454"/>
            </a:xfrm>
            <a:prstGeom prst="rect">
              <a:avLst/>
            </a:prstGeom>
            <a:noFill/>
            <a:ln/>
          </p:spPr>
          <p:txBody>
            <a:bodyPr wrap="none" rtlCol="0" anchor="ctr"/>
            <a:lstStyle/>
            <a:p>
              <a:pPr marL="0" indent="0" algn="ctr">
                <a:buNone/>
              </a:pPr>
              <a:r>
                <a:rPr lang="en-US" sz="6000" b="1" dirty="0">
                  <a:solidFill>
                    <a:srgbClr val="9A3B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31%</a:t>
              </a:r>
              <a:endParaRPr lang="en-US" sz="60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9898380" y="4873752"/>
              <a:ext cx="1824228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300" b="1" dirty="0">
                  <a:solidFill>
                    <a:srgbClr val="8B93A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Total Disconnect</a:t>
              </a:r>
              <a:endParaRPr lang="en-US" sz="1300" dirty="0">
                <a:solidFill>
                  <a:srgbClr val="8B93A3"/>
                </a:solidFill>
              </a:endParaRPr>
            </a:p>
          </p:txBody>
        </p:sp>
      </p:grpSp>
      <p:sp>
        <p:nvSpPr>
          <p:cNvPr id="62" name="Text 60"/>
          <p:cNvSpPr/>
          <p:nvPr/>
        </p:nvSpPr>
        <p:spPr>
          <a:xfrm>
            <a:off x="7452360" y="5376672"/>
            <a:ext cx="4416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Center, "How Americans Are Engaged..." (2026)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20040" y="5531735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5522591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12648" y="5536307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</a:t>
            </a:r>
            <a:endParaRPr lang="en-US" sz="95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2050C29-DFCC-97C2-97AB-B9F4F89550FC}"/>
              </a:ext>
            </a:extLst>
          </p:cNvPr>
          <p:cNvGrpSpPr/>
          <p:nvPr/>
        </p:nvGrpSpPr>
        <p:grpSpPr>
          <a:xfrm>
            <a:off x="320040" y="5811011"/>
            <a:ext cx="11548872" cy="800100"/>
            <a:chOff x="320040" y="5811011"/>
            <a:chExt cx="11548872" cy="800100"/>
          </a:xfrm>
        </p:grpSpPr>
        <p:sp>
          <p:nvSpPr>
            <p:cNvPr id="66" name="Shape 64"/>
            <p:cNvSpPr/>
            <p:nvPr/>
          </p:nvSpPr>
          <p:spPr>
            <a:xfrm>
              <a:off x="320040" y="5811011"/>
              <a:ext cx="11548872" cy="800100"/>
            </a:xfrm>
            <a:prstGeom prst="roundRect">
              <a:avLst>
                <a:gd name="adj" fmla="val 4688"/>
              </a:avLst>
            </a:prstGeom>
            <a:solidFill>
              <a:srgbClr val="152238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687629" y="5855625"/>
              <a:ext cx="10817352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Where exactly do we lose Connectors, Spectators, and Outsiders — and what would it take to keep them in the loop?</a:t>
              </a:r>
              <a:endParaRPr lang="en-US" sz="1800" dirty="0"/>
            </a:p>
          </p:txBody>
        </p:sp>
      </p:grpSp>
      <p:sp>
        <p:nvSpPr>
          <p:cNvPr id="74" name="Speech Bubble: Rectangle with Corners Rounded 73">
            <a:extLst>
              <a:ext uri="{FF2B5EF4-FFF2-40B4-BE49-F238E27FC236}">
                <a16:creationId xmlns:a16="http://schemas.microsoft.com/office/drawing/2014/main" id="{4DC3455D-1B1F-7666-CA09-4BB09882EFA9}"/>
              </a:ext>
            </a:extLst>
          </p:cNvPr>
          <p:cNvSpPr/>
          <p:nvPr/>
        </p:nvSpPr>
        <p:spPr>
          <a:xfrm>
            <a:off x="4091316" y="927046"/>
            <a:ext cx="1352065" cy="542235"/>
          </a:xfrm>
          <a:prstGeom prst="wedgeRoundRectCallout">
            <a:avLst>
              <a:gd name="adj1" fmla="val -57653"/>
              <a:gd name="adj2" fmla="val 36411"/>
              <a:gd name="adj3" fmla="val 16667"/>
            </a:avLst>
          </a:prstGeom>
          <a:solidFill>
            <a:schemeClr val="bg1"/>
          </a:solidFill>
          <a:ln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anyone need me?"</a:t>
            </a:r>
            <a:endParaRPr lang="en-US" sz="1400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427247D0-86C4-AF99-0A32-846CD111F1E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02122" y="911563"/>
            <a:ext cx="876239" cy="876239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28B3CB0-943E-7724-DF94-2AE9FEEC21E8}"/>
              </a:ext>
            </a:extLst>
          </p:cNvPr>
          <p:cNvGrpSpPr/>
          <p:nvPr/>
        </p:nvGrpSpPr>
        <p:grpSpPr>
          <a:xfrm>
            <a:off x="3192204" y="1657620"/>
            <a:ext cx="876239" cy="246888"/>
            <a:chOff x="2834640" y="1371600"/>
            <a:chExt cx="1463040" cy="246888"/>
          </a:xfrm>
        </p:grpSpPr>
        <p:sp>
          <p:nvSpPr>
            <p:cNvPr id="15" name="Shape 13"/>
            <p:cNvSpPr/>
            <p:nvPr/>
          </p:nvSpPr>
          <p:spPr>
            <a:xfrm>
              <a:off x="2834640" y="1371600"/>
              <a:ext cx="1463040" cy="246888"/>
            </a:xfrm>
            <a:prstGeom prst="roundRect">
              <a:avLst>
                <a:gd name="adj" fmla="val 18519"/>
              </a:avLst>
            </a:prstGeom>
            <a:solidFill>
              <a:srgbClr val="152238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2834640" y="1371600"/>
              <a:ext cx="146304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kern="0" spc="3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OUTSIDER</a:t>
              </a:r>
              <a:endParaRPr lang="en-US" sz="1200" dirty="0"/>
            </a:p>
          </p:txBody>
        </p:sp>
      </p:grpSp>
      <p:sp>
        <p:nvSpPr>
          <p:cNvPr id="92" name="Speech Bubble: Rectangle with Corners Rounded 91">
            <a:extLst>
              <a:ext uri="{FF2B5EF4-FFF2-40B4-BE49-F238E27FC236}">
                <a16:creationId xmlns:a16="http://schemas.microsoft.com/office/drawing/2014/main" id="{CC86ACF6-5E96-5AC6-79CB-8DBF100450DD}"/>
              </a:ext>
            </a:extLst>
          </p:cNvPr>
          <p:cNvSpPr/>
          <p:nvPr/>
        </p:nvSpPr>
        <p:spPr>
          <a:xfrm>
            <a:off x="5963398" y="2822611"/>
            <a:ext cx="1352065" cy="542235"/>
          </a:xfrm>
          <a:prstGeom prst="wedgeRoundRectCallout">
            <a:avLst>
              <a:gd name="adj1" fmla="val -61463"/>
              <a:gd name="adj2" fmla="val 56600"/>
              <a:gd name="adj3" fmla="val 16667"/>
            </a:avLst>
          </a:prstGeom>
          <a:solidFill>
            <a:schemeClr val="bg1"/>
          </a:solidFill>
          <a:ln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can I actually do?"</a:t>
            </a:r>
            <a:endParaRPr lang="en-US" sz="1400" dirty="0"/>
          </a:p>
        </p:txBody>
      </p:sp>
      <p:sp>
        <p:nvSpPr>
          <p:cNvPr id="94" name="Speech Bubble: Rectangle with Corners Rounded 93">
            <a:extLst>
              <a:ext uri="{FF2B5EF4-FFF2-40B4-BE49-F238E27FC236}">
                <a16:creationId xmlns:a16="http://schemas.microsoft.com/office/drawing/2014/main" id="{BE269A68-35D1-682D-902B-E2DD4F9101DF}"/>
              </a:ext>
            </a:extLst>
          </p:cNvPr>
          <p:cNvSpPr/>
          <p:nvPr/>
        </p:nvSpPr>
        <p:spPr>
          <a:xfrm>
            <a:off x="197514" y="2968783"/>
            <a:ext cx="1352065" cy="542235"/>
          </a:xfrm>
          <a:prstGeom prst="wedgeRoundRectCallout">
            <a:avLst>
              <a:gd name="adj1" fmla="val 37124"/>
              <a:gd name="adj2" fmla="val 74413"/>
              <a:gd name="adj3" fmla="val 16667"/>
            </a:avLst>
          </a:prstGeom>
          <a:solidFill>
            <a:schemeClr val="bg1"/>
          </a:solidFill>
          <a:ln>
            <a:solidFill>
              <a:srgbClr val="152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 have an impact?"</a:t>
            </a:r>
            <a:endParaRPr lang="en-US" sz="1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755A36B-998F-075A-18C5-93C2813EB9C7}"/>
              </a:ext>
            </a:extLst>
          </p:cNvPr>
          <p:cNvSpPr/>
          <p:nvPr/>
        </p:nvSpPr>
        <p:spPr>
          <a:xfrm>
            <a:off x="320040" y="932688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F526A7B-6901-077C-8D59-AF30F4601107}"/>
              </a:ext>
            </a:extLst>
          </p:cNvPr>
          <p:cNvSpPr/>
          <p:nvPr/>
        </p:nvSpPr>
        <p:spPr>
          <a:xfrm>
            <a:off x="320040" y="9235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90EC39F-82B5-3EC5-14AC-DDDDE7CCB6B3}"/>
              </a:ext>
            </a:extLst>
          </p:cNvPr>
          <p:cNvSpPr/>
          <p:nvPr/>
        </p:nvSpPr>
        <p:spPr>
          <a:xfrm>
            <a:off x="612648" y="9372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56">
            <a:extLst>
              <a:ext uri="{FF2B5EF4-FFF2-40B4-BE49-F238E27FC236}">
                <a16:creationId xmlns:a16="http://schemas.microsoft.com/office/drawing/2014/main" id="{A01A2532-A144-05B7-FB0A-9AE1A522B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4" y="898172"/>
            <a:ext cx="7139035" cy="48955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3BDB28-B5FC-6412-B766-74784A8CA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88" y="91440"/>
            <a:ext cx="11650466" cy="78645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3288343-4893-1496-3D27-C5F560899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128" y="1671320"/>
            <a:ext cx="2743438" cy="101202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5694769-40B9-C5CA-7E0B-18EFC8945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878" y="4451324"/>
            <a:ext cx="2438611" cy="107908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0F96F27-4493-37E4-9889-9D2F24C68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93" y="1636371"/>
            <a:ext cx="2444708" cy="109737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2EBB365A-95B4-59F8-1EC2-73C6F0D435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0649" y="896329"/>
            <a:ext cx="4438273" cy="468213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5305D503-4D37-4CAC-BE16-A960359439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3218" y="1499616"/>
            <a:ext cx="2145978" cy="1828959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6D4B8EE7-4162-79B2-1F57-BFBA85AA5F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790" y="1499616"/>
            <a:ext cx="2566638" cy="1828959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58CF9271-8F38-EE1F-7F04-18EDB94DE6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0634" y="3459700"/>
            <a:ext cx="2566638" cy="1853345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673D9B98-753E-D68B-EFBB-9994D93532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830" y="5653947"/>
            <a:ext cx="11571211" cy="1109568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49A660DC-2114-63AE-6251-0B4770DA7E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7814" y="1617054"/>
            <a:ext cx="871804" cy="329213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14973FE0-D491-EC86-5E1D-65EBE3D009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3320" y="4029240"/>
            <a:ext cx="1012024" cy="329213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64B968ED-800D-2749-77C5-B35E4CD8B2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6914" y="4004039"/>
            <a:ext cx="1079086" cy="329213"/>
          </a:xfrm>
          <a:prstGeom prst="rect">
            <a:avLst/>
          </a:prstGeom>
        </p:spPr>
      </p:pic>
      <p:pic>
        <p:nvPicPr>
          <p:cNvPr id="187" name="Picture 186">
            <a:extLst>
              <a:ext uri="{FF2B5EF4-FFF2-40B4-BE49-F238E27FC236}">
                <a16:creationId xmlns:a16="http://schemas.microsoft.com/office/drawing/2014/main" id="{D496322E-F9B6-B890-A1B6-EF592E42200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49773" y="3465152"/>
            <a:ext cx="2566638" cy="18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5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194</Words>
  <Application>Microsoft Office PowerPoint</Application>
  <PresentationFormat>Widescreen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 Whinna</cp:lastModifiedBy>
  <cp:revision>5</cp:revision>
  <dcterms:created xsi:type="dcterms:W3CDTF">2026-08-08T17:58:09Z</dcterms:created>
  <dcterms:modified xsi:type="dcterms:W3CDTF">2026-08-09T02:43:43Z</dcterms:modified>
</cp:coreProperties>
</file>